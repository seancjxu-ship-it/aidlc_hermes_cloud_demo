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a22c04c33c40a8" /><Relationship Type="http://schemas.openxmlformats.org/officeDocument/2006/relationships/extended-properties" Target="/docProps/app.xml" Id="R4558364d6d3f4ba5" /><Relationship Type="http://schemas.openxmlformats.org/officeDocument/2006/relationships/officeDocument" Target="/ppt/presentation.xml" Id="Rcea41208af5c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2594bd2a204eb7"/>
  </p:sldMasterIdLst>
  <p:notesMasterIdLst>
    <p:notesMasterId xmlns:r="http://schemas.openxmlformats.org/officeDocument/2006/relationships" r:id="Rce43e50ba7bb41bf"/>
  </p:notesMasterIdLst>
  <p:sldIdLst>
    <p:sldId xmlns:r="http://schemas.openxmlformats.org/officeDocument/2006/relationships" id="256" r:id="Rf73a15d549384492"/>
    <p:sldId xmlns:r="http://schemas.openxmlformats.org/officeDocument/2006/relationships" id="257" r:id="Ra94ebaee20374ce8"/>
    <p:sldId xmlns:r="http://schemas.openxmlformats.org/officeDocument/2006/relationships" id="258" r:id="R04c02686100c4cbf"/>
    <p:sldId xmlns:r="http://schemas.openxmlformats.org/officeDocument/2006/relationships" id="259" r:id="Rdd8a00dd77244672"/>
    <p:sldId xmlns:r="http://schemas.openxmlformats.org/officeDocument/2006/relationships" id="260" r:id="Raae6b2df063743bb"/>
    <p:sldId xmlns:r="http://schemas.openxmlformats.org/officeDocument/2006/relationships" id="261" r:id="Rd30fc8ab79c74bff"/>
    <p:sldId xmlns:r="http://schemas.openxmlformats.org/officeDocument/2006/relationships" id="262" r:id="Rbaa74386d2c342fd"/>
    <p:sldId xmlns:r="http://schemas.openxmlformats.org/officeDocument/2006/relationships" id="263" r:id="Rbfebf092a1464480"/>
    <p:sldId xmlns:r="http://schemas.openxmlformats.org/officeDocument/2006/relationships" id="264" r:id="R1de74bfef44b41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7a87d78a34a93" /><Relationship Type="http://schemas.openxmlformats.org/officeDocument/2006/relationships/slideMaster" Target="/ppt/slideMasters/slideMaster1.xml" Id="R9e2594bd2a204eb7" /><Relationship Type="http://schemas.openxmlformats.org/officeDocument/2006/relationships/notesMaster" Target="/ppt/notesMasters/notesMaster1.xml" Id="Rce43e50ba7bb41bf" /><Relationship Type="http://schemas.openxmlformats.org/officeDocument/2006/relationships/presProps" Target="/ppt/presProps.xml" Id="R27bf05be2acd462d" /><Relationship Type="http://schemas.openxmlformats.org/officeDocument/2006/relationships/viewProps" Target="/ppt/viewProps.xml" Id="R43a3e5c6cf0d4069" /><Relationship Type="http://schemas.openxmlformats.org/officeDocument/2006/relationships/tableStyles" Target="/ppt/tableStyles.xml" Id="Rc80bd168c33a4cfe" /><Relationship Type="http://schemas.openxmlformats.org/officeDocument/2006/relationships/slide" Target="/ppt/slides/slide1.xml" Id="Rf73a15d549384492" /><Relationship Type="http://schemas.openxmlformats.org/officeDocument/2006/relationships/slide" Target="/ppt/slides/slide2.xml" Id="Ra94ebaee20374ce8" /><Relationship Type="http://schemas.openxmlformats.org/officeDocument/2006/relationships/slide" Target="/ppt/slides/slide3.xml" Id="R04c02686100c4cbf" /><Relationship Type="http://schemas.openxmlformats.org/officeDocument/2006/relationships/slide" Target="/ppt/slides/slide4.xml" Id="Rdd8a00dd77244672" /><Relationship Type="http://schemas.openxmlformats.org/officeDocument/2006/relationships/slide" Target="/ppt/slides/slide5.xml" Id="Raae6b2df063743bb" /><Relationship Type="http://schemas.openxmlformats.org/officeDocument/2006/relationships/slide" Target="/ppt/slides/slide6.xml" Id="Rd30fc8ab79c74bff" /><Relationship Type="http://schemas.openxmlformats.org/officeDocument/2006/relationships/slide" Target="/ppt/slides/slide7.xml" Id="Rbaa74386d2c342fd" /><Relationship Type="http://schemas.openxmlformats.org/officeDocument/2006/relationships/slide" Target="/ppt/slides/slide8.xml" Id="Rbfebf092a1464480" /><Relationship Type="http://schemas.openxmlformats.org/officeDocument/2006/relationships/slide" Target="/ppt/slides/slide9.xml" Id="R1de74bfef44b41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e7182a6c10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2f754055d64b5e" /><Relationship Type="http://schemas.openxmlformats.org/officeDocument/2006/relationships/notesMaster" Target="/ppt/notesMasters/notesMaster1.xml" Id="R786c6e24a74949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7f1940352475c" /><Relationship Type="http://schemas.openxmlformats.org/officeDocument/2006/relationships/notesMaster" Target="/ppt/notesMasters/notesMaster1.xml" Id="R30ca9b0c853c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c1b22c94f43c3" /><Relationship Type="http://schemas.openxmlformats.org/officeDocument/2006/relationships/notesMaster" Target="/ppt/notesMasters/notesMaster1.xml" Id="R488de37136b8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5a6dd6cd6b4dbb" /><Relationship Type="http://schemas.openxmlformats.org/officeDocument/2006/relationships/notesMaster" Target="/ppt/notesMasters/notesMaster1.xml" Id="R328a28ec438f41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e1e6c9e99f4776" /><Relationship Type="http://schemas.openxmlformats.org/officeDocument/2006/relationships/notesMaster" Target="/ppt/notesMasters/notesMaster1.xml" Id="Rb8a06898a5b84c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e7e3fe36fe4fa8" /><Relationship Type="http://schemas.openxmlformats.org/officeDocument/2006/relationships/notesMaster" Target="/ppt/notesMasters/notesMaster1.xml" Id="R584b82704af94a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6b144a8694322" /><Relationship Type="http://schemas.openxmlformats.org/officeDocument/2006/relationships/notesMaster" Target="/ppt/notesMasters/notesMaster1.xml" Id="R6251ba9cacb84a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b407e563849e6" /><Relationship Type="http://schemas.openxmlformats.org/officeDocument/2006/relationships/notesMaster" Target="/ppt/notesMasters/notesMaster1.xml" Id="Rde59f153fd0f4f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2e384c90094f38" /><Relationship Type="http://schemas.openxmlformats.org/officeDocument/2006/relationships/notesMaster" Target="/ppt/notesMasters/notesMaster1.xml" Id="R1e2895ff67e4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e68d31252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ff16f82b884968" /><Relationship Type="http://schemas.openxmlformats.org/officeDocument/2006/relationships/slideLayout" Target="/ppt/slideLayouts/slideLayout1.xml" Id="R420b93e81ac4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0b93e81ac4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f0531e577427d" /><Relationship Type="http://schemas.openxmlformats.org/officeDocument/2006/relationships/notesSlide" Target="/ppt/notesSlides/notesSlide1.xml" Id="Ra5b35eba2b5345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80dd8d7784e65" /><Relationship Type="http://schemas.openxmlformats.org/officeDocument/2006/relationships/notesSlide" Target="/ppt/notesSlides/notesSlide2.xml" Id="R1937b1b182ec42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f4247067e4383" /><Relationship Type="http://schemas.openxmlformats.org/officeDocument/2006/relationships/notesSlide" Target="/ppt/notesSlides/notesSlide3.xml" Id="Rb3e0e238a159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e0f2c1e934851" /><Relationship Type="http://schemas.openxmlformats.org/officeDocument/2006/relationships/notesSlide" Target="/ppt/notesSlides/notesSlide4.xml" Id="Rce503fbbc26a45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ffe237d794f1b" /><Relationship Type="http://schemas.openxmlformats.org/officeDocument/2006/relationships/notesSlide" Target="/ppt/notesSlides/notesSlide5.xml" Id="R925f7bc6416143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9c8a151324734" /><Relationship Type="http://schemas.openxmlformats.org/officeDocument/2006/relationships/notesSlide" Target="/ppt/notesSlides/notesSlide6.xml" Id="R6a49201dfb0f45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c4ae4dda34418" /><Relationship Type="http://schemas.openxmlformats.org/officeDocument/2006/relationships/notesSlide" Target="/ppt/notesSlides/notesSlide7.xml" Id="R74b909f460a94f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54cd039ea422d" /><Relationship Type="http://schemas.openxmlformats.org/officeDocument/2006/relationships/notesSlide" Target="/ppt/notesSlides/notesSlide8.xml" Id="R3b4ce569c3ac41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64c3740bc4863" /><Relationship Type="http://schemas.openxmlformats.org/officeDocument/2006/relationships/notesSlide" Target="/ppt/notesSlides/notesSlide9.xml" Id="R3a01bd3f84fe46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2DE0A-6545-451D-A280-81C672A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7DBF-C621-4109-9BBA-328098DB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69C28-E36E-4585-9D64-9307D152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EXECUTIVE VIEW / 方案总览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13B3E-AA53-4DCF-8B94-2E687AA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58D8-45C9-4281-9554-77645E23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AIDLC：把研发流程变成可编排、可审计、可复用的 AI 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F7ACB-B4A5-482B-A4C3-5F6F89E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turns the software lifecycle into an orchestrated, auditable and reusable AI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151B2-34D4-48F9-A2DF-FC617A1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不是出售一套 Coding 产品，而是帮助客户打开完整研发场景，并持续调用华为云 MaaS。</a:t>
            </a:r>
          </a:p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Not a packaged coding product: a framework that opens the full engineering lifecycle and drives MaaS consumption.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69AE8-D9D3-4721-A57D-0DC1D318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47875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7315A-348F-48B4-A0DB-7794413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3324A-1B9A-44E3-A18B-8CE36D41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78EAD-56B4-4D14-B722-C2CC4F8A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客户定义 / Customer defines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D0C4E-6522-445B-B541-6E4F313D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Spec · Design · Tasks ·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928E6-55B6-4AFC-8EFF-3DED46E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A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B0964-ACC9-41B8-A7F7-827F376B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5651B-D38B-4E00-B156-C5097183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383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89F48-5A15-40D7-AC86-0593896D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Hermes 编排 / Hermes orchestrates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75428-65E3-4D44-8CA0-84A65AB9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Plan · Route · Gate · Recover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A6002-4737-4B96-A765-43F56704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47875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13335">
            <a:solidFill>
              <a:srgbClr val="0F9D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D40BC-48AF-443A-9FA7-C26C3A16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9525">
            <a:solidFill>
              <a:srgbClr val="0F9D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30DA0-EAB2-44BE-872D-5D295E3D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28651-6ED2-44BC-A26E-7D408EE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Agent 执行 / Agents execute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5A560-D525-4694-A615-0C270E1D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Dev · QA · Review · Deploy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2E13E-0C12-414C-8B2E-3B03769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193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E22E4-5164-4F5A-8EB0-EB7623BF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4DD0D-667A-41AE-947B-C369DC2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219200"/>
            <a:ext cx="3143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7ED92-DA45-40DF-A699-353CB25F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交付证明 / Delivery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B3E34-482E-45A9-925B-FBD0C80B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47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693C9-16D0-436A-90E5-011F7020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B7404-F767-430A-B173-7C2A296E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真实分支、Commit 与 PR / Real branch, commit and PR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2DF31-A6FB-4BDB-8799-167B444F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70280-6787-4951-8286-B07EA50B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51709-9435-410F-981D-ED532544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确定性测试 + 安全门禁 / Deterministic tests + security gates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03EBC-2657-4CC8-A7BD-6CA2799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F90E2-64CA-4CBD-8C7F-F953645D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6C2EF-6DA7-4463-AE19-437572F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Kaniko → SWR → CCE Preview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E6FBF2-2CF3-4703-B58B-8580CF1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376542-F3C7-4628-B6EE-8626398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5BB392-A35E-46B6-9013-AD977DE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时间戳事件与证据包 / Timestamped events and evidence pack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4638CA-880A-4BB1-A972-B405E1DF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386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1FD2E6-BE62-4062-A810-0CF157C2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38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F18A0E-6841-4560-9268-2954ECB3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2114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 Pods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765753-1A8F-44A1-83D7-9CCE5B6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2114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职责隔离 / Role isolation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BB133A-C2F0-4D9E-B39B-75C9CAA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API + Orchestrator + 4 Workers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51591E-60E3-4CCD-9467-D0666AB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BB6036-793C-4F9D-AF91-459CB83B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2160B6-4BBC-4C61-B7DE-9E337FE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2114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GLM-5.2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7F2ADD-2C09-401F-9FC8-C5166A4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14900"/>
            <a:ext cx="2114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香港 MaaS / Hong Kong MaaS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797B8-498B-4FF2-96DD-152D9A0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43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OpenAI-compatible endpoint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CB83C6-0B80-4DAF-AC16-0B608F5D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386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F27A00-1481-4E2E-A174-470B48E0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38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901BD1-33FA-4286-87BF-6084D0D0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10100"/>
            <a:ext cx="2114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Real CI/CD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D55D53-B75F-4699-A496-CB9FDC8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14900"/>
            <a:ext cx="2114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真实交付链 / Real delivery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A71AC6-6E0D-4CF4-962C-9A599858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43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Kaniko · SWR · CCE Preview · PR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B0A388-7ACA-4E62-AF24-2838888D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3600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FDD6D7-4BBA-4345-A3A7-01FF0C37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75CB5E-5383-4CD9-B6CD-FB25D774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10100"/>
            <a:ext cx="3333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One-click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A62745-77B1-4C8B-B44A-5BCD279F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14900"/>
            <a:ext cx="3333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一键部署与销毁 / Deploy &amp; destroy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4DE7A2-D07B-47DC-92DD-A1652745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435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Terraform + PowerShell + Helm; demo scope only</a:t>
            </a:r>
          </a:p>
        </p:txBody>
      </p:sp>
    </p:spTree>
    <p:extLst>
      <p:ext uri="{BB962C8B-B14F-4D97-AF65-F5344CB8AC3E}">
        <p14:creationId xmlns:p14="http://schemas.microsoft.com/office/powerpoint/2010/main" val="5127098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DC2326-E4D3-4F39-872E-80DDD1BC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27E6E-20FE-4667-B8BB-C7390E5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05D6C-A044-42A6-BB37-EF1A7CB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VALUE &amp; OWNERSHIP / 价值与责任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663C6-ABFA-4B15-8C5C-226ECF9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7037-F6EA-493F-AEBB-8132795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客户只定义“做什么与如何验收”，平台负责“如何可靠执行”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CF2F-A10C-490B-98A7-1FD90188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The customer defines intent and acceptance; the platform owns reliable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11888-F1B6-454D-89E5-E64EFA4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85875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393F6-8482-48F6-BBA3-BD6483C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493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客户界面 / Customer-owned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BF44C-268D-4B5D-8A2C-8E1FD6A4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7F73D-048D-4EF5-B650-85B6232B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76350"/>
            <a:ext cx="531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AIDLC 平台 / Platform-owned 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AA51E-A9A2-4D2D-BBF0-0A523984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5181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3DC20-518E-4FBC-AAC6-00D738F9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E3ED4-53CD-469A-88B6-A786ADB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业务需求 / Requirement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7D21D-CD36-4CBD-9962-361EE5E3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288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demo/GITHUB_ISSUE.md or issue-like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DB5F3-B84A-4CD9-A1F2-E6A612AC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9D36B-B067-4989-9F35-E3CB1B0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41C00-DB48-4CAB-AD9C-5D6B82B0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规范与设计 / Spec &amp;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BD083-8A4F-49E9-B534-57D8F807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sdd/spec.md · sdd/design.md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6169B-9104-4A89-9603-2211DED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FE32A-9DC4-4CB3-9A5E-8B3AE964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1BA48-5751-4F4E-B519-34622E68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任务与门禁 / Tasks &amp;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045A2-6ACC-43BB-9538-F1862A00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sdd/tasks.yaml · acceptance criteria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BDC68-043A-44E3-BC6D-B3248365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BF613-36C2-4444-987D-BBBEA71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A7B32-74AA-4598-97B3-6A027C2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代码与测试 / Code &amp;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3E53A-7739-4CB7-B838-9D56585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Repository-owned source, tests and optional skills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78AD5-7E48-4BE1-8661-30BFD504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BA651-AFC0-42B5-9165-327B9509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7B807-2160-457F-B8E2-EAE7792B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审批策略 /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D201E-0CDC-4E3A-9B9A-60A81D78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Human decides whether to merge into main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77186-1CE0-4183-8ACC-C044937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505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F9D7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DFC53-E0E9-484A-92FB-EBE4A8DC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A48AF1-7F9E-4BFA-B665-D4AF628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5F1CE1-C3FC-420F-B5F1-90583A24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335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任务图 / Task 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113C6A-3243-4E94-A2B2-02303624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Hermes loads skills and routes 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663888-B035-4FC4-945B-35DF4945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288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5BBC6-3A3B-4709-B5B2-319E3EB6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288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D89EC0-39E2-415A-9DB9-3BFD1608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9335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代码变更 / Code change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C492F8-E175-498C-BD3E-ABB7399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526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Dev edits, checks, commits and pushes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E2558F-9A31-42C3-8094-8AD35DAA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645041-7693-48A3-AD73-B8977B2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E585D5-BDDC-43C5-AECA-7F4479E9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质量与评审 / QA &amp; 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F87363-85E5-49CB-892B-B7AC20F6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Tests, compile, secret scan, model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AD8617-C93E-4E4D-BA27-12F5FF5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9D7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EA8E5D-8380-41B8-851A-F3576EB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1C6CE-9D65-481D-81A7-8752C550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8607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交付与预览 / Deploy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C21D96-CB6E-4FA9-ABFF-D508047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051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Kaniko build, SWR push, CCE Preview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BDD1CB-38CD-4B06-B5D1-574670F8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905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383">
            <a:solidFill>
              <a:srgbClr val="CF0A2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0F9BC6-25EF-4567-9E4D-50675D3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统一结果 / Unified outcome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C664A-85EC-4AE8-AE16-351E8447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5529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ALLOW_PR_AND_PREVIEW + Evidence Pack + Human merge gate</a:t>
            </a:r>
          </a:p>
          <a:p xmlns:a="http://schemas.openxmlformats.org/drawingml/2006/main">
            <a:pPr algn="l">
              <a:defRPr sz="82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允许创建 PR 与 Preview；最终合并仍由人审批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B3DCE0-0C44-4C46-ACC9-C5BDF976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53050"/>
            <a:ext cx="11258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FC5BBD-316D-4FD1-9279-A460F2A9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01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价值 / Value  →  更快验证需求 · 更一致的工程门禁 · 更完整的审计证据 · 可迁移到客户 Git 仓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Faster validation · consistent engineering gates · complete audit trail · portable to the customer’s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301237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F3A66-6FBA-4FEA-AB6A-BFB2F61F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D8485-96E2-4EC7-9CED-DC633DC4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6CB94-02BD-4A4D-B1DE-C6BE1F00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LOGICAL ARCHITECTURE / 逻辑架构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560CD-7863-4298-8B27-4611BF3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FCD7-415F-4938-88BC-8CB591F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通用 AIDLC 框架：接口层、控制面、执行面与证据面解耦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CA23-3701-48E2-ABAA-8924E9F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Reusable AIDLC framework with decoupled interface, control, execution and evidence 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32079-8BA4-43DF-B3FD-A8617FC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51410-C255-4E33-8341-EE9B369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接口层 /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C97FD-B048-4272-AF33-718EC2E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A"/>
          </a:solidFill>
          <a:ln xmlns:a="http://schemas.openxmlformats.org/drawingml/2006/main" w="762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7588C-3DC1-4412-A6FF-E8B80A3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控制面 /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BEAC5-E607-4903-817E-00734A5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1127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7620">
            <a:solidFill>
              <a:srgbClr val="0F9D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A037-7ADE-417A-B75B-08B35C8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执行面 /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DA350-83F7-412D-91CA-D0020D1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1277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762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1BF0D-7375-4A1D-9FB2-2F63745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外部系统 / External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439D7-19AD-4EAA-83AF-C4E32407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71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9E5E7-039A-4486-A853-7DA0638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7160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C5FBD-00D2-489E-966C-58056CB9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76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客户 UI / Client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75BF8-7A2F-4007-A9D0-EE564583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9545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Browser console or customer portal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8A8D1-F1E1-4748-B811-19C3F2E8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7160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DB99E-C92F-4247-9ABF-E27F646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7160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EDCE7-218D-496F-8B38-B212E3EC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76375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API Pod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5F9CA-9A9B-42BC-9007-40589BAD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2495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REST + auth + reverse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3DC1C-5020-41A5-B939-4B541D61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65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E90B7-4166-4C51-9BE3-07823EA4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C74E7-CB01-485A-8F00-A9C0AECB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763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API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B1CAA-3A8E-4053-B7F5-7AB043F4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POST /api/runs · GET state/events/evidence · /preview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44880-67DD-4040-A1E2-E1121BA4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97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CD9A5-F6EB-4AA5-9A6E-FBDEAA1B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97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4EA27-127F-4317-9A65-88B2FF1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95525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08D4E2-41AE-4766-8001-E2776BC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955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B3A7AA-08CD-4FDB-BDEA-68FBBED6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003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Hermes Orchestrator Pod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21209-7A38-4DF1-A6D9-F47C7DA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19375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Load skills → build task graph → route → gate → finalize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881838-6B1D-44BB-8203-7A80B90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955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B33A8-E6DD-41C8-9523-B6A98EEE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955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3D438E-4903-4774-A7E9-11ABA61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03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DCS Redis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BC79C6-FB0F-4718-9148-DAA6E0D9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Run state · queues · events · evidence · 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D888C-5CD4-4572-B2A9-73251F41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95525"/>
            <a:ext cx="291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6AD304-D9B3-414E-812C-71FAC02D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955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7A4CAA-9318-47E6-ADC2-4BC87A65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OpenSpec + AIDLC Skills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117742-46F5-461B-BC34-45AD491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19375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Spec → Design → Tasks → Test → Review → Release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A2FB46-43FC-4FD9-A347-DBC1F60F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3E85ED-CB07-4D6F-B8D1-F4C95EA6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4DECD8-4B76-4077-8850-0C98AF7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DA56C4-97BD-4439-8F59-67DBED04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ADD864-966C-49CB-9E4F-1981C2E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09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Dev Agent Pod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0C5EA7-2872-4EAF-B028-7E3FCF3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29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GLM-assisted edit · local checks · commit · push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01167D-6339-41C5-BFA6-27DB91C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767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B06021-D970-45CA-A035-EFA6FA3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05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queue:dev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205A46-0C01-4A66-BAF5-9C078A3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B4295C-0E3F-4902-B415-EAF596B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1067FF-824E-4958-9B9A-9E5CE8B0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9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QA Agent Pod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067D6F-060B-4B87-A056-2813B30D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Repository tests · acceptance evidence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F03146-E440-426F-B416-CEBEB9B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D77393-8469-4BDD-B0C1-70F1A2F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05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queue:qa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D5DD57-752C-43A3-AB41-E150141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43117E-433E-4798-B8BB-A9EA1377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6194E6-FF1C-4668-97C7-282520B1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9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Review Agent Pod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7A3C42-2EE3-44FD-9820-E813CB5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29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Compile · secret scan · model review gate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4F21F4-33F5-4132-B20F-EF26BA8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3E9DFE-9305-44A9-9E22-09E75B19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queue:review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047C1D-873B-4B0B-8CE5-F65EE35F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9D7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2740A5-3BC8-463B-B6F1-B3449E66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C2240C-D8EF-4494-80B5-E6655B08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9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Deploy Agent Pod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3BF8AC-0E39-4D1A-B498-0682A0A6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Kaniko Job · digest · Preview · smoke · PR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1C52B0-2C51-4F17-95F3-D549E8D0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767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9C3EAF-A310-48F5-BE6F-638AEB53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queue:deploy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DD2FC9-8505-4054-B6CA-0DF61320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AF5887-E7D8-408C-9C7B-1F2493F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116ABF-8673-4615-9347-568E5B0C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213F01-C2F4-4855-9BD8-239010BA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ADB42C-D92A-438D-8DCE-073E344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698DB0-D2BE-4955-96FC-7DC85E9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29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DE7EC6-CAB1-44B3-B677-188C755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48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Clone · branch · push · Pull Request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533908-78F4-4692-BD32-8283239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24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0A2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CE0B12-1D9B-48B5-8892-E0C4DB9F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244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43E63D-4CA2-4659-B2A8-7B70D4FE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29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MaaS GLM-5.2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4FE243-2F47-4B73-B0A6-9B53C2C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48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OpenAI-compatible chat completions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C965B6-2830-4EB9-80B6-6A11FFE3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F8D0C9-1295-40C6-98F5-D0701513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397D88-26AA-4151-A51C-D0D6139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29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SWR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59331A-51E8-4BED-8F7D-14845530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48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Platform + application images and digest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31D965-599E-4FCF-A4B2-A5D98CC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24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9D7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BC7168-30C7-48DA-9417-17139090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244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F7329B-B8E9-44BA-B9C2-D71D321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29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CCE Preview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EB5503-11A3-41F9-B962-71CE3259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48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Run-specific Deployment · Service · smoke tests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C4F96D-6C5F-496B-8511-9283AD6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67425"/>
            <a:ext cx="937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Redis 只传递任务与证据；每个 Worker 独立扩展、失败与重试。 / Redis carries tasks and evidence; Workers scale, fail and retry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1693421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9D7A6-5ED3-4578-8B76-20266EAD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37820-C51D-4006-9D93-02EEDD38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184D2-A463-4B16-9A0D-37886A81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BUSINESS FLOW / 业务流程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40807-47DB-4B4A-9D79-73360668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F7ABB-95A7-4DE1-989A-8DB582D0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从需求文件到可访问 Preview：十个可观测、可阻断的阶段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9720F-68FC-4D3A-8F09-69366358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From requirement file to live Preview: ten observable and gateable stages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7EA87-423F-4764-A602-E867067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034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9F23D-8855-4250-9BCD-DAF9C656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34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8B470-5A4B-4F01-B0DB-0A9836C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4110A-1949-4D12-97EB-040AA48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B50A0-B454-404F-8FF0-F3E6D7A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812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73A31-6EC0-4375-9807-F3169DE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提交输入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67680-0213-42C5-B2E0-22E6D4B5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Submit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2A6B1-D3AC-485F-83F6-FBF86914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09A31-D73E-4008-8816-C823D41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25045-35BB-4B15-A58E-B630510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812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E78BC-F4C2-44E6-8617-F7FD459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解析规范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FBD4E-E8E4-49F0-87EF-8B6E834E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145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Parse OpenSpec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95780-4A84-40BB-BA9E-9B086247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69AEC-939C-435D-98AC-7ABE8160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64B2F-E5C5-463B-80B7-3B5E97DA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812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0AA95-1A50-4957-BC6A-8435B6D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生成任务图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75F6C-9CB4-42C0-8693-512BD4DD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Build task 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301C1-4B00-4420-8B5C-0C1FF864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4283F-79D2-499A-9FE3-A2CB0FC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3CB93-AF6F-4821-8543-B04EF3D0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812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57BCB-E23B-4992-A8A5-5682196A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开发变更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1FC7B-5EAB-4B5B-B49C-FA96AF6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Dev change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748C0-B597-42B6-A3A2-9A56A69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48B92-0F4E-438B-AC9D-9BA4054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FBCC8-CEE4-4FC2-AF9E-A93D475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812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9A4A10-1613-483F-98B6-19B8274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669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推送分支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16F275-EC9A-48B5-97B0-DF75CFF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Push branch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F3177-0798-493B-85BC-5CBCEEB9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389565-0771-43DC-8CA8-46B17C17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6D835-CC19-4DF2-938A-2FC19EC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671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26C72-90FC-45EA-8D76-41A8030A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确定性测试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B84221-DC6D-42CE-B02F-7CF21553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QA tests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345965-2912-4EA3-8DA8-57A70E50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0E91E3-8240-4EE2-84C6-315008FE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635C82-59C9-4D5F-9101-4605AD47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671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897A92-6027-434E-B284-E24A499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评审门禁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459922-0D04-49FF-8D76-91080B6F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00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Review gates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8A76C3-A6DA-4E38-86E8-DC71CE2B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9D7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643820-CA65-4A09-81B4-4FF0D4E8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EA276F-73A5-4E69-9A3C-31AB9DBB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671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A2E7DB-64CC-49F1-B0B8-2170F120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构建镜像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0530FE-7355-4ACC-9367-E9575BB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Kaniko → SWR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E44CA5-5CDA-44B3-8692-B221B6C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9D7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916EA0-389B-42CA-9846-8E754536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B5E84B-E7D1-45A2-B799-0AD61102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671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60940F-8BD8-4E4D-8D25-FAF5EA52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528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部署与冒烟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997A0D-71E4-4DB2-B494-482B69C1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CCE Preview + smoke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151F4B-C5BA-4135-A138-0996AB6E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0A2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BCFD80-FDB1-42F7-8C8C-006DBCB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4B1C18-FD94-41C1-8E52-B2C5E2F4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671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F0B291-F9CD-4779-8100-CA017C1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528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PR 与证据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3CC7CD-9C3C-42A8-8ED7-EDC13BA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PR + Evidence Pack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6413F8-507F-4198-B9C4-000F64A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007443-461F-492C-821B-5A0A079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输入门禁 / Input gate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DAF21D-7880-4882-B625-1BA5D913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repo + branch + requirement + skill profile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7838DA-735E-48D7-AF97-32F3C0B3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F463FB-CA00-45CE-A960-F817DD3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质量门禁 / Quality gate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9F53FE-46C3-4353-82A6-4BB48C33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908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tests pass · compile pass · no secret findings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C3AEC3-8E48-436E-BF46-0639C48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B3F5D9-A23D-4810-8E7E-55187AD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交付门禁 / Delivery gate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3739BB-D515-4F83-8D43-B64B04B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digest known · Preview healthy · functional smoke pass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423918-20B8-4EB8-9FB1-53D4D38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CF0A2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7AC77E-A5C4-4FCB-8C47-554553B7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622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人工门禁 / Human gate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D6C810-087C-493D-887F-6A6BE958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908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PR may be created; merge remains manual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8932D5-4F77-413F-A905-27F04A9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163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D62E29-FB63-422C-A723-383989D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每阶段输出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D6CF89-8336-49ED-8B12-26100B0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95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Stage output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039843-4CFB-42AC-945E-90A3469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79E228-D19B-483D-B2E3-88E2F60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task.started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86E254-1B5E-427D-987D-225F40DE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339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E7F7F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A4E8B8-7466-43CB-86D6-413DF54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625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model.usage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D5CA672-B5B7-4D53-980F-8166A068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85ED6F-97FF-47DC-B053-5706C790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625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git.commit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1D037A-AD9F-4FE0-92AF-F07BB1A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C5E8ABE-87B4-4974-ADD3-E1D7209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625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test.result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AA1178-A16D-4B8E-8777-E6FF0E0D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435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BA7C1F-18E7-476E-84CF-A828E5A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review.finding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BB7967-5B63-432F-932B-B5599D90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435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E7F7F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4E86A5E-F7C2-4CCE-82A9-2964EFE4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72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image.digest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EA3137F-2DA0-4FCE-8187-6EBAE2D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435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49C49C2-712B-4E2D-B600-4C5DA9BA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preview.health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3455232-F539-4DC0-ABB3-6C223C3F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435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22A33C-3058-4B9D-94C3-AEE7FF16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72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pull_request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FBDB21-640F-44C1-8EEF-41F32DA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0070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全部事件带时间戳并写入 Redis，最终封装为 Evidence Pack。 / Every event is timestamped in Redis and sealed into an Evidence Pack.</a:t>
            </a:r>
          </a:p>
        </p:txBody>
      </p:sp>
    </p:spTree>
    <p:extLst>
      <p:ext uri="{BB962C8B-B14F-4D97-AF65-F5344CB8AC3E}">
        <p14:creationId xmlns:p14="http://schemas.microsoft.com/office/powerpoint/2010/main" val="19086290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119F9-02EE-4D35-AF18-94BC590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30095-A179-4688-AAF3-19E1CA01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ADF03-E14B-4859-8BB9-01C1E58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POD &amp; API DESIGN / Pod 与 API 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84E50-C627-40EC-90AF-1D6F7D3C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FB3C6-B20F-42AA-9745-A2F8FFC1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每个 Pod 有明确输入、核心逻辑、接口与证据输出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19900-A43A-418D-BF51-A06A2ACC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Each Pod has explicit inputs, core logic, callable interface and evidence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2EE54-388B-4994-BCA8-78AB7240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763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9C3F9-4319-49A7-813F-04A56087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组件 / 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205BC-4A56-4D22-988F-F4BEC2CC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7A597-5D11-46D6-AC0A-FA0E32C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81125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调用接口 / Interface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4F8A3-4151-41F3-AB18-370931EA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76350"/>
            <a:ext cx="3067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4A338-02C6-4263-835B-557E5D02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实现细节 /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79602-505D-4974-9DE2-800F4D95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763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63C00-43E7-487B-8408-0FB24A1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81125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关键输出 / Key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B2FF4-F97C-4133-AA27-E325901A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27635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C6797-8CAB-4E6E-BD2B-214B1A3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811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失败策略 /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6E0A7-EF10-411B-8588-A8A2581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84D4F-BCF3-46B5-B9EA-7A7F99E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01894-E8CC-4963-9C29-B51F2F7F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306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CD63F-FF22-43AA-9993-960E91E0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573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2F445-414B-499D-A949-62C6989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5735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2C397-05F3-4330-A040-B5A16923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17C21-E891-4844-96B8-4756002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907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API Pod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23003-0DCC-4605-BB87-8F71D2E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81175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HTTP REST</a:t>
            </a:r>
          </a:p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:8000 / NodePort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69C34-D0E8-4806-909F-30F1DA08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526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Basic auth; request validation; dashboard aggregation; Preview reverse proxy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EF349-2536-4BF3-969E-72F6DFF5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run_id; state; events; evidence; preview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11BED-A8B3-4142-BD93-70AEE9A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716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26176"/>
                </a:solidFill>
                <a:latin typeface="Aptos"/>
                <a:ea typeface="Aptos"/>
                <a:cs typeface="Aptos"/>
              </a:rPr>
              <a:t>4xx reject / 5xx 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99D8B-1905-4938-B6BC-F7CA969D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E7589-5EBC-4E9F-80F3-FD665B9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7614C3-427D-4D91-BB89-72ECCCD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306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C1043A-B69E-46FC-9581-8C9795C7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50E46B-41DD-4B24-8BF5-860DEAC4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1A7A7-9A0D-4F39-A619-D777A230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8CD9E6-094B-42A4-A824-6239FF9C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146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55DC8-C662-465B-8CC5-77D0528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Redis queues</a:t>
            </a:r>
          </a:p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orchestrator loop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224A2B-2404-4228-A1CF-ED77140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Load OpenSpec skills; create task DAG; enforce transitions; aggregate final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C461F5-DDCA-4DFE-84FD-69CBF198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stage tasks; timestamps; final decision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C360B6-7CCD-4E7F-9AC0-BFAAB3D4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955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26176"/>
                </a:solidFill>
                <a:latin typeface="Aptos"/>
                <a:ea typeface="Aptos"/>
                <a:cs typeface="Aptos"/>
              </a:rPr>
              <a:t>stop or route retry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3B60F5-7BDC-4D27-A8C4-E9C12CA9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E3270E-DA88-43F8-883E-19D239E4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66B3A-A12B-4557-9BBA-726198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306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3630D9-C24B-484D-ADF9-07F8128A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66B698-4F41-463B-B8A0-2C38C5C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9C809D-12A2-4ED7-9FB1-24C9C9E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9F7AD6-8069-4598-85FD-D2E4043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Dev Agent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E2929B-196E-46D1-B313-1F41B9A6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28975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queue:dev</a:t>
            </a:r>
          </a:p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MaaS + Git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EF1CA7-F586-404E-B75F-72E731CB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Clone; read requirement/spec/design/tasks; GLM edit; local checks; commit and push feature branch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01907C-C951-4C4D-A02F-2781B6E1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commit SHA; diff; token usage; branch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445257-9F54-4F7D-A9E9-DB8EB0F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194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no push on check fail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41B7E1-8ABE-487E-8971-DDEC2C13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34A21F-A6E8-448E-9386-DC20C14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AB6ABD-19B6-4988-BCFE-018C597A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306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5F4EF5-6E98-43C0-9875-32BB8AC9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290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299096-50B8-4C34-AAAD-747767C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2905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F448A7-65B8-4451-84E7-DBCE86DA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2364FC-98E6-4A92-B328-C4440C1F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624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QA Agent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6372F8-B014-4409-A8C5-115D9522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queue:qa</a:t>
            </a:r>
          </a:p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repo test runner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CF9BEB-E39D-44AE-B231-86E982C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243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Checkout exact commit; discover deterministic tests; execute acceptance suite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13104B-E835-483E-B347-AAA54E7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test command; pass/fail; duration; logs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0A1440-7980-4C06-890C-EBE196F5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433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hard stop on failure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E04410-3B91-4BF9-9EEA-917D72B5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7B945C-CAE6-42D7-89F9-07BE0844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831DC7-8403-4465-BFB1-9E4282C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306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6D2EF5-B00E-4736-93D8-0E9293D1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529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9D6E04-BE4E-4745-B364-6C84B810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5295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38069F-7E80-473E-96F9-3BFB4EF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DFE611-D5CD-4D12-815A-47A2E1A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863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Review Agent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8AD409-22B3-4C32-AADB-5C11D05F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76775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queue:review</a:t>
            </a:r>
          </a:p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static + MaaS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1E9DAD-F218-496F-A2FF-B37E7277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482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Compile; secret pattern scan; changed-file review; policy decision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A9B893-B955-4737-82D6-02963D13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findings; severity; gate decision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12403E1-A93D-481D-8AA5-213B418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672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hard stop on blocker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193C43-F8D6-48FA-ABA1-E4C9D27F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7685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0477C56-EA84-4140-9F31-1955BB12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ED56BE-7A4C-407C-BE32-43857E7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76850"/>
            <a:ext cx="306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FCDA63-84F8-40E9-8A48-4E11D11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7685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9FA077-D6AE-458D-9753-D73FEA43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76850"/>
            <a:ext cx="163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8E0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22615B-FCB1-44DA-A9D3-42625BE4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768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7367D4-00A9-4957-8FE5-D9A297B7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102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Deploy Agent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C8E3E1-A4EB-4111-890F-EABB07F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00675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queue:deploy</a:t>
            </a:r>
          </a:p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K8s API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5E3F23-CC07-490A-8314-E5C5FC13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721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Create Kaniko Job; push SWR; resolve digest; create run Preview; smoke tests; create PR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101887-AC5F-400A-A1FE-0953E0B8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7210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image digest; workload; smoke; PR URL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B9DAF3-83AD-45D2-9B56-22122B8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911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cleanup + hard stop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0E2F42-560B-4184-B37D-A413680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5315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5489AF-09B7-4160-9393-8BB8B4BE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公开 API / Public API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E1FC83-3EE9-4DF3-83BE-4BB9DAA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341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GET /health · GET /api/architecture · GET /api/dashboard · POST /api/runs · GET /api/runs/{id}[ /events | /evidence ] · GET /preview/{id}/{path}</a:t>
            </a:r>
          </a:p>
        </p:txBody>
      </p:sp>
    </p:spTree>
    <p:extLst>
      <p:ext uri="{BB962C8B-B14F-4D97-AF65-F5344CB8AC3E}">
        <p14:creationId xmlns:p14="http://schemas.microsoft.com/office/powerpoint/2010/main" val="21191251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A1116-D175-4189-9C3F-E1006A28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0CAFE-262D-4C98-BFE4-222B98B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41F0F-35F4-4AD8-B638-663CF44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HUAWEI CLOUD TOPOLOGY / 华为云部署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ED524-2108-4B49-A7C1-BE0CC734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03986-6AA9-4709-9F9E-3099F6FF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执行与数据留在巴西，模型推理调用香港 MaaS GLM-5.2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CB576-B917-4FDD-A739-37499ED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Execution and data stay in Brazil; model inference calls Hong Kong MaaS GLM-5.2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23245-1F9B-4A5C-ADC2-77DB5613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82105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9D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886E6-2AB0-49C3-8AD0-7ADE6CE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DE1D1-FB0C-4634-9262-C59CDF1B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521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Brazil Region · sa-brazil-1 / 巴西区域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C8B7-B850-421E-BD4C-88E53F1C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335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7F861-7D89-4FDD-89F7-1FFD49C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620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Data + Execution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313FB-2D1B-4770-8BE8-38E6D04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7753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DB155-31D4-4135-B24D-501E787C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VPC 192.168.0.0/16 · Subnet 192.168.10.0/24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6185A-CCED-4A34-AD66-856895AD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FEA2D-F812-4F84-BF29-FD95E0B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DBB6A-6AA8-4EB8-B6EC-67CA3873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74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EIP + NodePort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A2FAB-68D0-4437-9C2F-B3158AC9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Internet → 124.81.5.20:30080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C381B-E018-480E-A4DE-C3990BA7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38350"/>
            <a:ext cx="4895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9D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B78A4-BFD3-4872-8DC3-C0B5C67B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383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9ED03-A217-4C84-BA83-6F36DE67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CCE: aidlc-cce-demo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08153-1A86-4705-8B7A-A7CA5C5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cce.s1.small · Kubernetes v1.36 · overlay_l2</a:t>
            </a:r>
          </a:p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1× Worker/ECS s7n.large.2 · 2 vCPU / 4 GB · 40 GB + 100 GB GPSSD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49E3A-065D-4809-ACC2-F4C2213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E14A7-61D4-4BA7-81E3-8EB5D534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7200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0C9EF-8D69-4CB1-BC22-5763FA51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B5CA4-6427-4FA6-80A7-66EB4B3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A2725-9668-4307-9F6C-E85335A1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76625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8B2B2-E93B-43D0-BBA4-507AEF8E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052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B4018-6836-4BD6-BAB2-9242AE6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76625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544EC-F8DF-4EEA-909F-D128DA52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0B591-0636-4723-8404-65D405D6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33FC1-27E9-4A8A-A160-D4EF7C24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052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CECE0-BED5-4D81-AB64-9D98E169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0DDAE-A87C-4B7D-B736-11FA4A18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052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67F7E8-AFE9-4FB4-AA2F-57638DEB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9D7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7FC587-5013-4582-A980-75BA545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3D7103-8426-40C3-A687-E804834B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Namespace: aidlc-demo · ServiceAccount/RBAC · ConfigMap + Secret · run-specific Preview Deployments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A891D8-310A-4043-89C4-136A0DE0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677432-BABC-42F8-97A6-6E23A4D7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3201B-2F6A-48D3-BF48-E9B9484A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DCS Redis 7.0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E12B5-85FC-46A9-9BC7-FBD9C16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single · 128 MB · 192.168.10.107:6379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D98E33-E414-4B69-9694-C2F9075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EDB5BA-E2BC-4F8C-A236-1E2EBD8A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15C1CE-AF23-4D70-BAAF-8FA44101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86325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SWR Private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B8E77A-EC4A-4C32-A7A8-FA6B74E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aidlc-factory + order-demo images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84919A-FB18-4806-8127-4C8B0E71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815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9D7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CC90C3-6C1C-49D3-A79F-630BB56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815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759082-4D4E-485E-B73C-3AD6637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863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Kaniko + CCE Preview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281B3C-160E-4353-AB89-62FABDCC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build by commit · deploy by digest · smoke tests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ACBA24-B089-4D3E-8B42-7C0490C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19200"/>
            <a:ext cx="2800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4288">
            <a:solidFill>
              <a:srgbClr val="CF0A2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B62D5D-9CC5-4848-ACC5-A1C67CD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097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B0DF0D-3877-4779-9D8C-5865966B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001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Hong Kong · ap-southeast-1 / 香港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C185DD-B22C-41EC-A4F4-E59C486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0A2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7F5A7A-EA20-41B2-830A-43A9E488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BAD8CC-66AB-4097-986D-F4A1FED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9072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ModelArts Studio MaaS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AE7EB0-0895-4B7C-8DDD-A7A7948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OpenAI-compatible endpoint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C14D91-CE36-4E42-9E17-1A0F60D4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0A2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A7D921-1E3F-4924-83F4-ACA69E8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19EB7F-DF33-4E19-A3D8-BB2F9A5E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8132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GLM-5.2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5AC455-34A5-4DA7-9FF3-55C43D2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Dev + Review model calls</a:t>
            </a:r>
          </a:p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Token usage captured per run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298A9E-227E-4F52-94B0-FA8E208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528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HTTPS only / 仅 HTTPS 调用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1B06D7-3D86-41DD-B09D-310F03B2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8003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ED1157-BF46-40C7-855E-7189894A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76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Demo 边界 / Demo boundary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A77718-71F2-49A4-A108-C92CB46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96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• 单节点 CCE Worker / single worker</a:t>
            </a:r>
          </a:p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• 单节点 Redis / single Redis</a:t>
            </a:r>
          </a:p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• 无容灾、备份、HA / no DR, backup or HA</a:t>
            </a:r>
          </a:p>
          <a:p xmlns:a="http://schemas.openxmlformats.org/drawingml/2006/main">
            <a:pPr algn="l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• 面向演示，不是生产基线 / demo, not production</a:t>
            </a:r>
          </a:p>
        </p:txBody>
      </p:sp>
    </p:spTree>
    <p:extLst>
      <p:ext uri="{BB962C8B-B14F-4D97-AF65-F5344CB8AC3E}">
        <p14:creationId xmlns:p14="http://schemas.microsoft.com/office/powerpoint/2010/main" val="18982517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DB3A84-3EDA-4DC0-AF85-82E21542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CC9A6-D242-4C4D-BA9D-ED90E92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73A9F-6503-4A7B-B6A2-BF7937FF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CUSTOMER CONTRACT / 客户接入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B5F47-351E-450C-B205-5E46FF5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B2365-6917-4276-8170-D64BA10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客户通过 Git 仓库契约 + REST API 使用系统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9523E-8F12-461B-A24F-19EFABAB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Customers use the system through a Git repository contract and REST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C10FA-9315-4924-95C7-C6AD7C00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573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C110A-AA63-49A3-AD15-91810BB6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331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① Git 仓库准备 / Prepare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409E6-AE58-4B26-8997-AE9873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81150"/>
            <a:ext cx="33337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5472E-185B-4A0C-BB72-1F01B8EB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repo/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CCA14-7545-4ACE-9EF7-0F2B8984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├─ demo/GITHUB_ISSUE.md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58C9C-BBCD-482F-A769-421DDBD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├─ sdd/spec.md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0C7FB-076A-4947-ADE6-D9CAFD0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├─ sdd/design.md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36A8E-A196-4D83-A943-F37DFBE1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├─ sdd/tasks.yaml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65BC6-E6DD-4D2E-96F5-8851214C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├─ tests/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C90C1-1F5B-457A-AA4F-1AA0CF0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├─ .hermes/skills/   (optional)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D134A-A674-4305-9BBD-DBBD95E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└─ application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7869A-7977-4757-90EF-4BA619E1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E4639-328D-46ED-9BB7-2C87BFDD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Fine-grained PAT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E39A6-35A0-4A4E-BF96-7E1FAF9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Contents: Read &amp; write</a:t>
            </a:r>
          </a:p>
          <a:p xmlns:a="http://schemas.openxmlformats.org/drawingml/2006/main">
            <a:pPr algn="ctr">
              <a:defRPr sz="8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Pull requests: Read &amp; write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4BB89-86D7-466E-90E9-0649B9CA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3B811-D2E5-4464-B4AD-A65C76E4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4777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② 调用 API / Call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30BCC-F4D7-4967-B00C-27D2B5FD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39052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75FD3-5B79-4B1E-9F8F-18D50A6C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POST /api/runs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604DD-1228-4664-8F6B-290C4AB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4480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"repository": "https://github.com/.../repo",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"base_branch": "main",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"requirement_file": "demo/GITHUB_ISSUE.md",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"execution_mode": "live",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"skill_profile": "openspec-core+aidlc-demo",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"model": "glm-5.2"</a:t>
            </a:r>
          </a:p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98DEF-B824-4B20-BCF8-0EDFA28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33900"/>
            <a:ext cx="344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注意 / Note</a:t>
            </a:r>
          </a:p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当前 Demo 不接收自由文本 requirement；需求必须进入 Git，才能形成可审计输入。</a:t>
            </a:r>
          </a:p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Requirement lives in Git—not inline text—so the input remains auditable.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74C267-2426-41D0-8307-D96C70AA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F8B63-3843-4A02-81B8-E642FD77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4777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③ 获取结果 / Consume outputs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5E4590-E8FF-415B-9CEA-3957E162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3718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D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3F0A0-9A92-4FEA-BCDB-813461B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A9A3F-9B45-4628-9ABD-E46AF6B6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192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状态 /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221AD-1A5B-407D-89A2-FCEBC49E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669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rPr>
              <a:t>GET /api/runs/{id}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79C0E-1FC1-4341-81D1-D55A224B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2827DC-C795-466C-9BD1-8955540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669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过程 / Events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3DAD28-DB9B-4A45-8EDE-769EECC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146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rPr>
              <a:t>GET /api/runs/{id}/events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F5979-13AE-4A21-8E99-032D5E3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B2932-0F8E-4C45-B5B0-FB985DF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146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证据 /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0F9C4C-5B97-4C29-9F58-F8D7021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623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rPr>
              <a:t>GET /api/runs/{id}/evidence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B2C411-1471-4750-991A-4996D56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8FF995-A35B-4E1E-ABDA-87B4AB8A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623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预览 / Preview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7A0655-DB14-4196-949A-1A6F9263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00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rPr>
              <a:t>GET /preview/{id}/{path}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1155DF-19E6-4160-BD9D-3CA3F3A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C55558-FAA2-44F1-818C-DCA11833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00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代码 / Source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170501-8BFD-4700-A628-C39111F4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577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26176"/>
                </a:solidFill>
                <a:latin typeface="Aptos Mono"/>
                <a:ea typeface="Aptos Mono"/>
                <a:cs typeface="Aptos Mono"/>
              </a:rPr>
              <a:t>feature branch + Pull Request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7746A2-B02C-4ECA-BEDE-88EDB4C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1125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9D7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56F3D2-78DB-48EB-B62A-64035AC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87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最小客户输入 / Minimum customer input = Git URL + base branch + requirement file + spec/design/tasks + tests + approval policy</a:t>
            </a:r>
          </a:p>
        </p:txBody>
      </p:sp>
    </p:spTree>
    <p:extLst>
      <p:ext uri="{BB962C8B-B14F-4D97-AF65-F5344CB8AC3E}">
        <p14:creationId xmlns:p14="http://schemas.microsoft.com/office/powerpoint/2010/main" val="19141992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DFF6A-2966-4A8D-B08C-17EF5FE4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C1989-9942-42FB-9D3A-7ED02E4A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EDA2-2214-4808-8BE4-D549463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ONE-CLICK DELIVERY / 一键交付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CE3E4-E77B-4099-B5D5-A543CEA7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8E413-E771-43E4-A135-1CAE0F1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提供账号与三类凭证后，可重复部署、查询状态并完整销毁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B3349-0A3B-43F1-A17B-EEBF1DA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After account and three credentials are supplied, the demo can be deployed, inspected and fully destroyed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7856F-FFDB-4670-B0EC-CA7D3F06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573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97EB1-200E-4E3C-AA43-5BA9CD7A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331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输入 / Inputs (never committed)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CDE14-1BF3-461C-B2D4-2CD8C8D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0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0A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9CBA9-F631-452A-8017-BDD5753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Huawei Cloud AK/SK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71FF9-5F51-41C1-A9C4-3AC2F64F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Terraform + KooCLI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9A2C4-6053-4186-B2A7-61D566CF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74B43-CCA6-4B68-81AA-33F3E77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24025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MaaS API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1C0C6-B591-452D-8CA7-33AEF8E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71675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Hong Kong GLM-5.2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06AA2-FB26-4C90-AEEE-DF492964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D5D6C-2062-49C4-BEE3-74CD51EE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24025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GitHub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1E670-07F3-432B-A8FA-B3F29CF5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71675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Contents + PR read/write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CC36C-C560-44AF-9ED2-8899DAA6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00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D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4B7C8-4F2A-44C8-9FB8-909EE28F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24025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Docker Desktop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5C3E7-061C-4020-977C-3E812CB0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71675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local platform-image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AE0A1-E417-488B-868E-B06D9D3B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047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2B54C-0727-468B-A399-D7FE093A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00021-65CD-437C-948B-7F3047FD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53301-27A0-47AA-B701-76BDA8FD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099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9676E-3CF2-488F-9E38-B157524B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工具引导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E9D96-467E-464C-84BB-731627CD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Bootstrap tools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CAAE9-6631-48C0-A783-D1D97C6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9D7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98E99-2357-4197-A072-0C998D6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0EFE4-6A90-4835-A989-6A1B1BE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099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D78A9-9BB9-4859-A578-BA6D1AF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资源创建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94F880-C9BA-4E0E-825D-C3625939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Terraform apply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598671-4D19-43AA-AED4-FDA40610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A6F68-6CDF-45E9-932F-DFA7214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BE887-8197-4C06-BCEE-6FADE80A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099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2B8F3-D4EA-4481-9A26-5C4DE2E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镜像推送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350303-3D70-45E2-9660-83D28F05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Docker → SWR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D3299-AF62-466A-86AB-CE9AF1C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ED32E7-E1DA-4DCF-BFCD-643E3C4F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7B18A-15A0-45DE-B83E-7002124A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099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F09C15-046A-4D95-8665-BBB57159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应用安装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99856C-E4C9-4F08-8F6E-217B4D9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Secrets + Helm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8FCCAE-F22B-4C08-B6AC-6DA0C09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1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9D7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8DC1EA-B438-41D9-A18D-9D624AED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55614A-1BAB-46C6-A810-4DB2594D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0990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9322F8-1AFF-4985-8C59-796FD41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健康验证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B4071C-8C7F-4269-A3A2-3DF9E5F8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Rollout + /health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B6F583-7F59-44EF-B027-ECAA131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5410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5F88D7-199A-46D9-B48D-E1CEA431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部署 / Deploy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B4E3A3-2B38-4D8A-B46E-20E5D383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95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.\scripts\cloud\deploy.ps1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A73A0A-32B0-4AA4-9746-66F5B3FF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Creates VPC · EIP · CCE/ECS/EVS · DCS · SWR</a:t>
            </a:r>
          </a:p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Builds platform image · installs 6 Pods · verifies public health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868EC1-A971-4A2C-96FA-E8F6698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29050"/>
            <a:ext cx="56197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0A2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6259D5-3E98-4848-A878-1C9C96A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516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销毁 / Destroy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CBBAC6-477D-47AF-AB97-38A9FA4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162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32238"/>
                </a:solidFill>
                <a:latin typeface="Aptos Mono"/>
                <a:ea typeface="Aptos Mono"/>
                <a:cs typeface="Aptos Mono"/>
              </a:rPr>
              <a:t>.\scripts\cloud\destroy.ps1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F4E312-BF39-48EC-A5EB-503A653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516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Type DESTROY → remove Preview/namespace → delete SWR tags</a:t>
            </a:r>
          </a:p>
          <a:p xmlns:a="http://schemas.openxmlformats.org/drawingml/2006/main">
            <a:pPr algn="l">
              <a:defRPr sz="788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→ terraform destroy from the same state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AEC438-3050-4D33-BF5F-7B0EE38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29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EAE067-FD23-44DD-A42D-AB2B695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7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临时目录自动清理 / temp files removed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47E64-500B-48B9-B5F9-EF7E309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29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DEC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72287A-8A18-4A35-9929-69C599FA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57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State 与密钥禁止入库 / state &amp; secrets ignored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D83AA6-C1E2-4F01-92F8-D2826E87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29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4701C7-342D-48AD-9C6E-1FE74B5B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57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缺少部署记录则拒绝销毁 / no record, no destroy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C861E2-8EBA-456B-9974-91BB96FE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29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6D01D0-8CEA-463B-AE5A-3D69B177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57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按量计费 Demo / pay-per-use demo</a:t>
            </a:r>
          </a:p>
        </p:txBody>
      </p:sp>
    </p:spTree>
    <p:extLst>
      <p:ext uri="{BB962C8B-B14F-4D97-AF65-F5344CB8AC3E}">
        <p14:creationId xmlns:p14="http://schemas.microsoft.com/office/powerpoint/2010/main" val="15662983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F17EB6-30CA-4B86-909D-10ABCDD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6AD25-B4CB-4EA4-AC2A-F1F8EB4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ED0D0-E91F-4B1A-A319-C1E03F4B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CUSTOMER DEMO / 客户演示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59D80-29E7-4CE5-A333-7F9375F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AIDLC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DC99E-6D78-49A4-A909-735E8CDA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7 分钟客户演示：让客户看到“过程、证据和真实交付”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8FCD5-E5F8-4399-A954-8B9E371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6"/>
                </a:solidFill>
                <a:latin typeface="Aptos"/>
                <a:ea typeface="Aptos"/>
                <a:cs typeface="Aptos"/>
              </a:rPr>
              <a:t>A 7-minute customer demo that proves process, evidence and real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48A69-05DA-4DEA-B6DF-8BE286A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0:00–0:45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8CD2E-F11C-403F-810B-A546C4E2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2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25FA3-EC61-4F64-9AF2-DB5502F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811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8422D-314C-4311-9577-92D27FDA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335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2CCD5-A815-44F3-84D8-788D809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0970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打开架构页 / Show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2CDB1-0240-469D-BD72-880475A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先解释巴西执行面 + 香港 MaaS，以及六类 Pod。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C997E-9503-4D76-85F7-1A61441E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0:45–1:30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978B2-DF69-4AB0-9664-A804B326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57E91-A384-42C6-BB8F-248503A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79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A37A9-AAE5-40AD-A47B-C51C39AC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002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7506E-B22B-4980-8A86-5EA42B4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764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检查输入 / Inspect 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427D4-8AED-4651-9849-876349D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打开 Git 仓中的 requirement/spec/design/tasks/tests。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8C716-937F-4FE4-8AAA-3D5DE291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98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1:30–2:00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C46D8-DF51-4AE4-8EED-F1172EE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CF0A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5D1C1-CAF1-412B-82A9-B5046D2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9886C-3146-4287-BC9B-F3CAA5C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4D57A-6155-45CD-8701-E3B739F6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4320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启动任务 / Run Full AIDLC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A2F8A-6427-4372-9CF2-4863DDB7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确认 repo、main、requirement_file、GLM-5.2，然后启动。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9C26E-6028-4790-9C92-93ED8DE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2:00–4:30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415F3-A552-40AC-BFFD-CEE63A56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F9D7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055AA-0C57-4CE3-85FD-78872AF8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814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F00714-70A3-43D9-8894-2AD3A753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337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4526A-F959-4041-AA42-0DF2C1E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099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观察 Console / Watch live 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FECF0-F2A4-4A63-8E05-D12E429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按时间戳解释 Orchestrator → Dev → QA → Review → Deploy。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B1DFE-F39A-4EDC-8C2F-40E115B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4:30–5:30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A9363D-C500-4C0D-AB29-5583DE58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311B8-5B95-442E-81EE-C67DBFFB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E9755-C76D-451D-BE19-88718D62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005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DE32F-2474-4D18-AD94-4E64109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展开证据 / Open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AE371-950E-4007-8094-29A1F91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展示 Git、测试、安全、Kaniko、SWR、CCE、Smoke 与 PR 卡片。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8F4EF9-BB48-4B37-8462-8C467EC9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5:30–6:30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D1F0B7-0AF1-45DC-8F74-B1A2D817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F9D7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A78E22-890F-4865-8115-BDF7C8B1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BEDA4-E33B-4AD6-B855-4B5B89A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672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FD20CD-F887-4AD3-94BA-ED2132D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434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D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D76"/>
                </a:solidFill>
                <a:latin typeface="Aptos"/>
                <a:ea typeface="Aptos"/>
                <a:cs typeface="Aptos"/>
              </a:rPr>
              <a:t>访问 Preview / Open live Preview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84AF61-A30D-418F-B55E-D76ECFB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执行取消订单与幂等重放，证明运行的是新镜像。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D245D-C3BC-41A4-B0FB-101CE84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6:30–7:00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012139-D64D-43C4-9137-2BE97B5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29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0A2C"/>
          </a:solidFill>
          <a:ln xmlns:a="http://schemas.openxmlformats.org/drawingml/2006/main" w="0">
            <a:solidFill>
              <a:srgbClr val="CF0A2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B78A8B-62D5-4614-ABFB-291812F7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FD1C1F-987F-41E7-B723-9537EBFE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打开 PR / Open Pull Request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34A7BD-06EC-4490-A5A5-C908185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展示 Commit/Diff，并强调最终 merge 仍需人工审批。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2CD516-76D9-47C4-A814-87316927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34099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948E87-EC88-4F9E-BF62-4EDD69E1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24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演示入口 / Demo entry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1478EA-FE14-49A8-B55D-B6E046F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http://124.81.5.20:30080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6488C7-B107-457B-BC14-51F20E0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526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demo / huawei123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8B560B-0105-4269-AEDC-9825732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健康检查 / Health</a:t>
            </a:r>
          </a:p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GET /health</a:t>
            </a:r>
          </a:p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运行模式 / Mode: live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19F64E-C4FB-47B3-A9C1-7983F183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409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9D7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6C0BD5-A338-45D3-B77C-7109B9AD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FAE98A-E3A8-4E6F-B2E7-10B9B7A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05275"/>
            <a:ext cx="274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结束时让客户记住 / Customer takeaway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C19A3E-310F-4A4E-A36E-1685C86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C3285F-75F9-4EE7-A6C8-99018EF0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86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流程可配置 / Workflow is configurable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549A10-E90B-46E6-8F0F-5AE8D551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339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11FA26-57A2-4D3A-B875-755F396E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门禁可验证 / Gates are verifiable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D7831C-17EA-436D-8D80-5A65284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101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31FB7D-9D7D-4D78-BCFB-1DC038A2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38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交付是真实的 / Delivery is real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20232D-30CF-4E30-B4EE-A1FE9FB7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863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DC652A-C04C-4EED-9ADF-E865152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14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证据可审计 / Evidence is auditable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5FD164-31B4-47CC-8E37-FFCA2D0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626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DF5BE1-C492-4707-AF18-EF27EF5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911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F0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0A2C"/>
                </a:solidFill>
                <a:latin typeface="Aptos"/>
                <a:ea typeface="Aptos"/>
                <a:cs typeface="Aptos"/>
              </a:rPr>
              <a:t>框架可复用 / Framework is reusable</a:t>
            </a:r>
          </a:p>
        </p:txBody>
      </p:sp>
    </p:spTree>
    <p:extLst>
      <p:ext uri="{BB962C8B-B14F-4D97-AF65-F5344CB8AC3E}">
        <p14:creationId xmlns:p14="http://schemas.microsoft.com/office/powerpoint/2010/main" val="1265320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2026-09-20T04:41:07.2780000Z</dcterms:created>
  <dcterms:modified xsi:type="dcterms:W3CDTF">2026-09-20T04:41:07.2780000Z</dcterms:modified>
</coreProperties>
</file>